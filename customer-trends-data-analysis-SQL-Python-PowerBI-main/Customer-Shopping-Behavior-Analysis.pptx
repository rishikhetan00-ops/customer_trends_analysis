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Libre Baskerville"/>
      <p:regular r:id="rId17"/>
    </p:embeddedFont>
    <p:embeddedFont>
      <p:font typeface="Libre Baskerville"/>
      <p:regular r:id="rId18"/>
    </p:embeddedFont>
    <p:embeddedFont>
      <p:font typeface="Libre Baskerville"/>
      <p:regular r:id="rId19"/>
    </p:embeddedFont>
    <p:embeddedFont>
      <p:font typeface="Libre Baskerville"/>
      <p:regular r:id="rId20"/>
    </p:embeddedFont>
    <p:embeddedFont>
      <p:font typeface="DM Sans"/>
      <p:regular r:id="rId21"/>
    </p:embeddedFont>
    <p:embeddedFont>
      <p:font typeface="DM Sans"/>
      <p:regular r:id="rId22"/>
    </p:embeddedFont>
    <p:embeddedFont>
      <p:font typeface="DM Sans"/>
      <p:regular r:id="rId23"/>
    </p:embeddedFont>
    <p:embeddedFont>
      <p:font typeface="DM Sans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image" Target="../media/image-6-15.png"/><Relationship Id="rId16" Type="http://schemas.openxmlformats.org/officeDocument/2006/relationships/image" Target="../media/image-6-16.png"/><Relationship Id="rId17" Type="http://schemas.openxmlformats.org/officeDocument/2006/relationships/slideLayout" Target="../slideLayouts/slideLayout7.xml"/><Relationship Id="rId1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9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0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1.xml"/><Relationship Id="rId7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Shopping Behavior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Uncovering insights from 3,900 purchases to guide strategic business decisions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00871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Dataset Overview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517100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3,900</a:t>
            </a:r>
            <a:endParaRPr lang="en-US" sz="5850" dirty="0"/>
          </a:p>
        </p:txBody>
      </p:sp>
      <p:sp>
        <p:nvSpPr>
          <p:cNvPr id="5" name="Text 2"/>
          <p:cNvSpPr/>
          <p:nvPr/>
        </p:nvSpPr>
        <p:spPr>
          <a:xfrm>
            <a:off x="1455420" y="62027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Total Purchases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669321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Comprehensive transaction data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235893" y="517100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18</a:t>
            </a:r>
            <a:endParaRPr lang="en-US" sz="5850" dirty="0"/>
          </a:p>
        </p:txBody>
      </p:sp>
      <p:sp>
        <p:nvSpPr>
          <p:cNvPr id="8" name="Text 5"/>
          <p:cNvSpPr/>
          <p:nvPr/>
        </p:nvSpPr>
        <p:spPr>
          <a:xfrm>
            <a:off x="5897523" y="62027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Columns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235893" y="669321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Customer demographics &amp; behavior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9677995" y="517100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37</a:t>
            </a:r>
            <a:endParaRPr lang="en-US" sz="5850" dirty="0"/>
          </a:p>
        </p:txBody>
      </p:sp>
      <p:sp>
        <p:nvSpPr>
          <p:cNvPr id="11" name="Text 8"/>
          <p:cNvSpPr/>
          <p:nvPr/>
        </p:nvSpPr>
        <p:spPr>
          <a:xfrm>
            <a:off x="10339626" y="62027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Missing Values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677995" y="669321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Only in Review Rating column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86044"/>
            <a:ext cx="725852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Preparation Process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203496"/>
            <a:ext cx="4196358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33778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Loading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868222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Imported dataset using pandas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216962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3203496"/>
            <a:ext cx="4196358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9" name="Text 7"/>
          <p:cNvSpPr/>
          <p:nvPr/>
        </p:nvSpPr>
        <p:spPr>
          <a:xfrm>
            <a:off x="5216962" y="33778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Initial Exploration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216962" y="3868222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Structure check and summary statistics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640133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40133" y="3203496"/>
            <a:ext cx="4196358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13" name="Text 11"/>
          <p:cNvSpPr/>
          <p:nvPr/>
        </p:nvSpPr>
        <p:spPr>
          <a:xfrm>
            <a:off x="9640133" y="3377803"/>
            <a:ext cx="330981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Missing Data Handling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40133" y="3868222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Imputed Review Rating with median values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93790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93790" y="5345906"/>
            <a:ext cx="6407944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17" name="Text 15"/>
          <p:cNvSpPr/>
          <p:nvPr/>
        </p:nvSpPr>
        <p:spPr>
          <a:xfrm>
            <a:off x="793790" y="5520214"/>
            <a:ext cx="295441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Feature Engineering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93790" y="6010632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Created age groups and purchase frequency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428548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05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7428548" y="5345906"/>
            <a:ext cx="6407944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21" name="Text 19"/>
          <p:cNvSpPr/>
          <p:nvPr/>
        </p:nvSpPr>
        <p:spPr>
          <a:xfrm>
            <a:off x="7428548" y="5520214"/>
            <a:ext cx="301287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Database Integration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28548" y="6010632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Connected to PostgreSQL for analysis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05984"/>
            <a:ext cx="824269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by Gender Analysis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510076"/>
            <a:ext cx="7604284" cy="400109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738563" y="6541651"/>
            <a:ext cx="226814" cy="226814"/>
          </a:xfrm>
          <a:prstGeom prst="roundRect">
            <a:avLst>
              <a:gd name="adj" fmla="val 8063"/>
            </a:avLst>
          </a:prstGeom>
          <a:solidFill>
            <a:srgbClr val="40320C"/>
          </a:solidFill>
          <a:ln/>
        </p:spPr>
      </p:sp>
      <p:sp>
        <p:nvSpPr>
          <p:cNvPr id="5" name="Text 2"/>
          <p:cNvSpPr/>
          <p:nvPr/>
        </p:nvSpPr>
        <p:spPr>
          <a:xfrm>
            <a:off x="4026337" y="6541651"/>
            <a:ext cx="49339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Male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4672132" y="6541651"/>
            <a:ext cx="226814" cy="226814"/>
          </a:xfrm>
          <a:prstGeom prst="roundRect">
            <a:avLst>
              <a:gd name="adj" fmla="val 8063"/>
            </a:avLst>
          </a:prstGeom>
          <a:solidFill>
            <a:srgbClr val="CC9D27"/>
          </a:solidFill>
          <a:ln/>
        </p:spPr>
      </p:sp>
      <p:sp>
        <p:nvSpPr>
          <p:cNvPr id="7" name="Text 4"/>
          <p:cNvSpPr/>
          <p:nvPr/>
        </p:nvSpPr>
        <p:spPr>
          <a:xfrm>
            <a:off x="4959906" y="6541651"/>
            <a:ext cx="74997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Female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8959096" y="24817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Key Insight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959096" y="3062883"/>
            <a:ext cx="48850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Female customers generate slightly higher total revenue than male customers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8959096" y="4043839"/>
            <a:ext cx="4885015" cy="1326713"/>
          </a:xfrm>
          <a:prstGeom prst="roundRect">
            <a:avLst>
              <a:gd name="adj" fmla="val 7181"/>
            </a:avLst>
          </a:prstGeom>
          <a:solidFill>
            <a:srgbClr val="F3E4B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5910" y="4387929"/>
            <a:ext cx="283488" cy="22681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696212" y="4327327"/>
            <a:ext cx="392108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Gender-based marketing strategies could optimize revenue streams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49125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High-Value Discount Users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24897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Customers using discounts while spending above average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80190" y="3867031"/>
            <a:ext cx="7556421" cy="1322189"/>
          </a:xfrm>
          <a:prstGeom prst="roundRect">
            <a:avLst>
              <a:gd name="adj" fmla="val 7205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14624" y="410146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Smart Shoppers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514624" y="4591883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 spenders who maximize value with discounts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6280190" y="5416034"/>
            <a:ext cx="7556421" cy="1322189"/>
          </a:xfrm>
          <a:prstGeom prst="roundRect">
            <a:avLst>
              <a:gd name="adj" fmla="val 7205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14624" y="5650468"/>
            <a:ext cx="320016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Strategic Opportunity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514624" y="6140887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Target premium customers with exclusive offers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295537"/>
            <a:ext cx="581263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Top-Rated Products</a:t>
            </a:r>
            <a:endParaRPr lang="en-US" sz="4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5344478"/>
            <a:ext cx="382667" cy="340162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3130" y="5344478"/>
            <a:ext cx="382667" cy="340162"/>
          </a:xfrm>
          <a:prstGeom prst="rect">
            <a:avLst/>
          </a:prstGeom>
        </p:spPr>
      </p:pic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2471" y="5344478"/>
            <a:ext cx="382667" cy="340162"/>
          </a:xfrm>
          <a:prstGeom prst="rect">
            <a:avLst/>
          </a:prstGeom>
        </p:spPr>
      </p:pic>
      <p:pic>
        <p:nvPicPr>
          <p:cNvPr id="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11812" y="5344478"/>
            <a:ext cx="382667" cy="340162"/>
          </a:xfrm>
          <a:prstGeom prst="rect">
            <a:avLst/>
          </a:prstGeom>
        </p:spPr>
      </p:pic>
      <p:pic>
        <p:nvPicPr>
          <p:cNvPr id="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51152" y="5344478"/>
            <a:ext cx="382667" cy="340162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>
            <a:off x="3103840" y="5403413"/>
            <a:ext cx="28348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5</a:t>
            </a:r>
            <a:endParaRPr lang="en-US" sz="2200" dirty="0"/>
          </a:p>
        </p:txBody>
      </p:sp>
      <p:sp>
        <p:nvSpPr>
          <p:cNvPr id="10" name="Text 2"/>
          <p:cNvSpPr/>
          <p:nvPr/>
        </p:nvSpPr>
        <p:spPr>
          <a:xfrm>
            <a:off x="793790" y="59159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Blouse</a:t>
            </a:r>
            <a:endParaRPr lang="en-US" sz="2200" dirty="0"/>
          </a:p>
        </p:txBody>
      </p:sp>
      <p:sp>
        <p:nvSpPr>
          <p:cNvPr id="11" name="Text 3"/>
          <p:cNvSpPr/>
          <p:nvPr/>
        </p:nvSpPr>
        <p:spPr>
          <a:xfrm>
            <a:off x="793790" y="6406396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Highest customer satisfaction</a:t>
            </a:r>
            <a:endParaRPr lang="en-US" sz="1750" dirty="0"/>
          </a:p>
        </p:txBody>
      </p:sp>
      <p:pic>
        <p:nvPicPr>
          <p:cNvPr id="1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35893" y="5344478"/>
            <a:ext cx="382667" cy="340162"/>
          </a:xfrm>
          <a:prstGeom prst="rect">
            <a:avLst/>
          </a:prstGeom>
        </p:spPr>
      </p:pic>
      <p:pic>
        <p:nvPicPr>
          <p:cNvPr id="1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75233" y="5344478"/>
            <a:ext cx="382667" cy="340162"/>
          </a:xfrm>
          <a:prstGeom prst="rect">
            <a:avLst/>
          </a:prstGeom>
        </p:spPr>
      </p:pic>
      <p:pic>
        <p:nvPicPr>
          <p:cNvPr id="1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14574" y="5344478"/>
            <a:ext cx="382667" cy="340162"/>
          </a:xfrm>
          <a:prstGeom prst="rect">
            <a:avLst/>
          </a:prstGeom>
        </p:spPr>
      </p:pic>
      <p:pic>
        <p:nvPicPr>
          <p:cNvPr id="1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53914" y="5344478"/>
            <a:ext cx="382667" cy="340162"/>
          </a:xfrm>
          <a:prstGeom prst="rect">
            <a:avLst/>
          </a:prstGeom>
        </p:spPr>
      </p:pic>
      <p:pic>
        <p:nvPicPr>
          <p:cNvPr id="1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93255" y="5344478"/>
            <a:ext cx="382667" cy="340162"/>
          </a:xfrm>
          <a:prstGeom prst="rect">
            <a:avLst/>
          </a:prstGeom>
        </p:spPr>
      </p:pic>
      <p:sp>
        <p:nvSpPr>
          <p:cNvPr id="17" name="Text 4"/>
          <p:cNvSpPr/>
          <p:nvPr/>
        </p:nvSpPr>
        <p:spPr>
          <a:xfrm>
            <a:off x="7545943" y="5403413"/>
            <a:ext cx="28348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5</a:t>
            </a:r>
            <a:endParaRPr lang="en-US" sz="2200" dirty="0"/>
          </a:p>
        </p:txBody>
      </p:sp>
      <p:sp>
        <p:nvSpPr>
          <p:cNvPr id="18" name="Text 5"/>
          <p:cNvSpPr/>
          <p:nvPr/>
        </p:nvSpPr>
        <p:spPr>
          <a:xfrm>
            <a:off x="5235893" y="59159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Dress</a:t>
            </a:r>
            <a:endParaRPr lang="en-US" sz="2200" dirty="0"/>
          </a:p>
        </p:txBody>
      </p:sp>
      <p:sp>
        <p:nvSpPr>
          <p:cNvPr id="19" name="Text 6"/>
          <p:cNvSpPr/>
          <p:nvPr/>
        </p:nvSpPr>
        <p:spPr>
          <a:xfrm>
            <a:off x="5235893" y="6406396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Consistently excellent reviews</a:t>
            </a:r>
            <a:endParaRPr lang="en-US" sz="1750" dirty="0"/>
          </a:p>
        </p:txBody>
      </p:sp>
      <p:pic>
        <p:nvPicPr>
          <p:cNvPr id="2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677995" y="5344478"/>
            <a:ext cx="382667" cy="340162"/>
          </a:xfrm>
          <a:prstGeom prst="rect">
            <a:avLst/>
          </a:prstGeom>
        </p:spPr>
      </p:pic>
      <p:pic>
        <p:nvPicPr>
          <p:cNvPr id="21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117336" y="5344478"/>
            <a:ext cx="382667" cy="340162"/>
          </a:xfrm>
          <a:prstGeom prst="rect">
            <a:avLst/>
          </a:prstGeom>
        </p:spPr>
      </p:pic>
      <p:pic>
        <p:nvPicPr>
          <p:cNvPr id="22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556677" y="5344478"/>
            <a:ext cx="382667" cy="340162"/>
          </a:xfrm>
          <a:prstGeom prst="rect">
            <a:avLst/>
          </a:prstGeom>
        </p:spPr>
      </p:pic>
      <p:pic>
        <p:nvPicPr>
          <p:cNvPr id="23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996017" y="5344478"/>
            <a:ext cx="382667" cy="340162"/>
          </a:xfrm>
          <a:prstGeom prst="rect">
            <a:avLst/>
          </a:prstGeom>
        </p:spPr>
      </p:pic>
      <p:pic>
        <p:nvPicPr>
          <p:cNvPr id="24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435358" y="5344478"/>
            <a:ext cx="382667" cy="340162"/>
          </a:xfrm>
          <a:prstGeom prst="rect">
            <a:avLst/>
          </a:prstGeom>
        </p:spPr>
      </p:pic>
      <p:sp>
        <p:nvSpPr>
          <p:cNvPr id="25" name="Text 7"/>
          <p:cNvSpPr/>
          <p:nvPr/>
        </p:nvSpPr>
        <p:spPr>
          <a:xfrm>
            <a:off x="11988046" y="5403413"/>
            <a:ext cx="28348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8"/>
          <p:cNvSpPr/>
          <p:nvPr/>
        </p:nvSpPr>
        <p:spPr>
          <a:xfrm>
            <a:off x="9677995" y="59159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Shirt</a:t>
            </a:r>
            <a:endParaRPr lang="en-US" sz="2200" dirty="0"/>
          </a:p>
        </p:txBody>
      </p:sp>
      <p:sp>
        <p:nvSpPr>
          <p:cNvPr id="27" name="Text 9"/>
          <p:cNvSpPr/>
          <p:nvPr/>
        </p:nvSpPr>
        <p:spPr>
          <a:xfrm>
            <a:off x="9677995" y="6406396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Strong customer approval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417201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Shipping Preferences Impact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4017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Express Shipping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3982879"/>
            <a:ext cx="3501509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150"/>
              </a:lnSpc>
              <a:buNone/>
            </a:pPr>
            <a:r>
              <a:rPr lang="en-US" sz="89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$65</a:t>
            </a:r>
            <a:endParaRPr lang="en-US" sz="8900" dirty="0"/>
          </a:p>
        </p:txBody>
      </p:sp>
      <p:sp>
        <p:nvSpPr>
          <p:cNvPr id="6" name="Text 3"/>
          <p:cNvSpPr/>
          <p:nvPr/>
        </p:nvSpPr>
        <p:spPr>
          <a:xfrm>
            <a:off x="793790" y="5627370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Average purchase amount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4856321" y="34017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Standard Shipping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856321" y="3982879"/>
            <a:ext cx="3501509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150"/>
              </a:lnSpc>
              <a:buNone/>
            </a:pPr>
            <a:r>
              <a:rPr lang="en-US" sz="89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$58</a:t>
            </a:r>
            <a:endParaRPr lang="en-US" sz="8900" dirty="0"/>
          </a:p>
        </p:txBody>
      </p:sp>
      <p:sp>
        <p:nvSpPr>
          <p:cNvPr id="9" name="Text 6"/>
          <p:cNvSpPr/>
          <p:nvPr/>
        </p:nvSpPr>
        <p:spPr>
          <a:xfrm>
            <a:off x="4856321" y="5627370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Average purchase amount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793790" y="6449497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Express shipping customers spend 12% more per transaction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35631"/>
            <a:ext cx="591931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Subscription Impact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478042" y="3872389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450"/>
              </a:lnSpc>
              <a:buNone/>
            </a:pPr>
            <a:r>
              <a:rPr lang="en-US" sz="4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68%</a:t>
            </a:r>
            <a:endParaRPr lang="en-US" sz="4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1932" y="2454712"/>
            <a:ext cx="3402330" cy="34023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55420" y="61405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Higher Spend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663094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Subscribers vs non-subscribers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920145" y="3872389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450"/>
              </a:lnSpc>
              <a:buNone/>
            </a:pPr>
            <a:r>
              <a:rPr lang="en-US" sz="4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45%</a:t>
            </a:r>
            <a:endParaRPr lang="en-US" sz="44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4035" y="2454712"/>
            <a:ext cx="3402330" cy="340233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897523" y="61405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Share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235893" y="663094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From subscription customers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10362248" y="3872389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450"/>
              </a:lnSpc>
              <a:buNone/>
            </a:pPr>
            <a:r>
              <a:rPr lang="en-US" sz="4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78%</a:t>
            </a:r>
            <a:endParaRPr lang="en-US" sz="44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6138" y="2454712"/>
            <a:ext cx="3402330" cy="340233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339626" y="61405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Loyalty Rate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9677995" y="663094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Repeat purchase frequency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07413"/>
            <a:ext cx="708040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Segmentation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8348" y="2369820"/>
            <a:ext cx="2152055" cy="130694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94892" y="2985849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2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5357217" y="259663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357217" y="3087053"/>
            <a:ext cx="288000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15% - High value customers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5187077" y="3689866"/>
            <a:ext cx="8592860" cy="15240"/>
          </a:xfrm>
          <a:prstGeom prst="roundRect">
            <a:avLst>
              <a:gd name="adj" fmla="val 625116"/>
            </a:avLst>
          </a:prstGeom>
          <a:solidFill>
            <a:srgbClr val="DDD3BA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2381" y="3733443"/>
            <a:ext cx="4304109" cy="130694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894892" y="4187547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2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</a:t>
            </a:r>
            <a:endParaRPr lang="en-US" sz="2500" dirty="0"/>
          </a:p>
        </p:txBody>
      </p:sp>
      <p:sp>
        <p:nvSpPr>
          <p:cNvPr id="10" name="Text 6"/>
          <p:cNvSpPr/>
          <p:nvPr/>
        </p:nvSpPr>
        <p:spPr>
          <a:xfrm>
            <a:off x="6433304" y="3960257"/>
            <a:ext cx="251293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Returning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6433304" y="4450675"/>
            <a:ext cx="251293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35% - Regular shoppers</a:t>
            </a:r>
            <a:endParaRPr lang="en-US" sz="1750" dirty="0"/>
          </a:p>
        </p:txBody>
      </p:sp>
      <p:sp>
        <p:nvSpPr>
          <p:cNvPr id="12" name="Shape 8"/>
          <p:cNvSpPr/>
          <p:nvPr/>
        </p:nvSpPr>
        <p:spPr>
          <a:xfrm>
            <a:off x="6263164" y="5053489"/>
            <a:ext cx="7516773" cy="15240"/>
          </a:xfrm>
          <a:prstGeom prst="roundRect">
            <a:avLst>
              <a:gd name="adj" fmla="val 625116"/>
            </a:avLst>
          </a:prstGeom>
          <a:solidFill>
            <a:srgbClr val="DDD3BA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294" y="5097066"/>
            <a:ext cx="6456164" cy="130694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894773" y="5551170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2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</a:t>
            </a:r>
            <a:endParaRPr lang="en-US" sz="2500" dirty="0"/>
          </a:p>
        </p:txBody>
      </p:sp>
      <p:sp>
        <p:nvSpPr>
          <p:cNvPr id="15" name="Text 10"/>
          <p:cNvSpPr/>
          <p:nvPr/>
        </p:nvSpPr>
        <p:spPr>
          <a:xfrm>
            <a:off x="7509272" y="5323880"/>
            <a:ext cx="254269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New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7509272" y="5814298"/>
            <a:ext cx="25426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50% - First-time buyers</a:t>
            </a:r>
            <a:endParaRPr lang="en-US" sz="1750" dirty="0"/>
          </a:p>
        </p:txBody>
      </p:sp>
      <p:sp>
        <p:nvSpPr>
          <p:cNvPr id="17" name="Text 12"/>
          <p:cNvSpPr/>
          <p:nvPr/>
        </p:nvSpPr>
        <p:spPr>
          <a:xfrm>
            <a:off x="793790" y="665916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Focus on converting New to Returning, Returning to Loyal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3257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34683" y="430768"/>
            <a:ext cx="5660827" cy="489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50"/>
              </a:lnSpc>
              <a:buNone/>
            </a:pPr>
            <a:r>
              <a:rPr lang="en-US" sz="30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Strategic Recommendations</a:t>
            </a:r>
            <a:endParaRPr lang="en-US" sz="3050" dirty="0"/>
          </a:p>
        </p:txBody>
      </p:sp>
      <p:sp>
        <p:nvSpPr>
          <p:cNvPr id="4" name="Shape 1"/>
          <p:cNvSpPr/>
          <p:nvPr/>
        </p:nvSpPr>
        <p:spPr>
          <a:xfrm>
            <a:off x="6034683" y="1155144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198870" y="1319332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8053" y="1422083"/>
            <a:ext cx="211455" cy="26431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98870" y="1945838"/>
            <a:ext cx="1989892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Boost Subscriptions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6198870" y="2284571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Promote exclusive benefits for subscribers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6034683" y="2855952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98870" y="3020139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8053" y="3122890"/>
            <a:ext cx="211455" cy="26431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198870" y="3646646"/>
            <a:ext cx="1958102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Loyalty Programs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6198870" y="3985379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Reward repeat buyers to increase retention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6034683" y="4556760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198870" y="4720947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8053" y="4823698"/>
            <a:ext cx="211455" cy="264319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198870" y="5347454"/>
            <a:ext cx="1975009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Targeted Marketing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6198870" y="5686187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Focus on high-revenue segments and express users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6034683" y="6257568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6198870" y="6421755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8053" y="6524506"/>
            <a:ext cx="211455" cy="264319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198870" y="7048262"/>
            <a:ext cx="1986796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Product Positioning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6198870" y="7386995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Highlight top-rated products in campaigns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2025-10-14T02:52:14Z</dcterms:created>
  <dcterms:modified xsi:type="dcterms:W3CDTF">2025-10-14T02:52:14Z</dcterms:modified>
</cp:coreProperties>
</file>